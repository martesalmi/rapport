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66" r:id="rId5"/>
    <p:sldId id="267" r:id="rId6"/>
    <p:sldId id="261" r:id="rId7"/>
    <p:sldId id="262" r:id="rId8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08C109-8FB6-4F0E-B6D1-9A7244954AFB}" v="4" dt="2025-05-23T13:16:34.3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06" autoAdjust="0"/>
    <p:restoredTop sz="94660"/>
  </p:normalViewPr>
  <p:slideViewPr>
    <p:cSldViewPr snapToGrid="0">
      <p:cViewPr varScale="1">
        <p:scale>
          <a:sx n="71" d="100"/>
          <a:sy n="71" d="100"/>
        </p:scale>
        <p:origin x="4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da Thoresen" userId="9a35b0fd-6bd0-4bcb-acc2-0266a8a11a72" providerId="ADAL" clId="{2808C109-8FB6-4F0E-B6D1-9A7244954AFB}"/>
    <pc:docChg chg="custSel addSld delSld modSld sldOrd">
      <pc:chgData name="Linda Thoresen" userId="9a35b0fd-6bd0-4bcb-acc2-0266a8a11a72" providerId="ADAL" clId="{2808C109-8FB6-4F0E-B6D1-9A7244954AFB}" dt="2025-05-23T13:20:50.648" v="391" actId="47"/>
      <pc:docMkLst>
        <pc:docMk/>
      </pc:docMkLst>
      <pc:sldChg chg="modSp del mod ord">
        <pc:chgData name="Linda Thoresen" userId="9a35b0fd-6bd0-4bcb-acc2-0266a8a11a72" providerId="ADAL" clId="{2808C109-8FB6-4F0E-B6D1-9A7244954AFB}" dt="2025-05-23T13:00:51.718" v="187" actId="47"/>
        <pc:sldMkLst>
          <pc:docMk/>
          <pc:sldMk cId="2202777889" sldId="259"/>
        </pc:sldMkLst>
        <pc:spChg chg="mod">
          <ac:chgData name="Linda Thoresen" userId="9a35b0fd-6bd0-4bcb-acc2-0266a8a11a72" providerId="ADAL" clId="{2808C109-8FB6-4F0E-B6D1-9A7244954AFB}" dt="2025-05-23T13:00:49.109" v="186" actId="20577"/>
          <ac:spMkLst>
            <pc:docMk/>
            <pc:sldMk cId="2202777889" sldId="259"/>
            <ac:spMk id="3" creationId="{28F6F6BB-2BEA-4617-4D55-E2326AD12E98}"/>
          </ac:spMkLst>
        </pc:spChg>
      </pc:sldChg>
      <pc:sldChg chg="ord">
        <pc:chgData name="Linda Thoresen" userId="9a35b0fd-6bd0-4bcb-acc2-0266a8a11a72" providerId="ADAL" clId="{2808C109-8FB6-4F0E-B6D1-9A7244954AFB}" dt="2025-05-23T13:18:15.931" v="388"/>
        <pc:sldMkLst>
          <pc:docMk/>
          <pc:sldMk cId="1407837564" sldId="261"/>
        </pc:sldMkLst>
      </pc:sldChg>
      <pc:sldChg chg="modSp del mod">
        <pc:chgData name="Linda Thoresen" userId="9a35b0fd-6bd0-4bcb-acc2-0266a8a11a72" providerId="ADAL" clId="{2808C109-8FB6-4F0E-B6D1-9A7244954AFB}" dt="2025-05-23T13:20:50.015" v="390" actId="47"/>
        <pc:sldMkLst>
          <pc:docMk/>
          <pc:sldMk cId="3538746390" sldId="264"/>
        </pc:sldMkLst>
        <pc:graphicFrameChg chg="modGraphic">
          <ac:chgData name="Linda Thoresen" userId="9a35b0fd-6bd0-4bcb-acc2-0266a8a11a72" providerId="ADAL" clId="{2808C109-8FB6-4F0E-B6D1-9A7244954AFB}" dt="2025-05-23T12:57:10.063" v="2" actId="2164"/>
          <ac:graphicFrameMkLst>
            <pc:docMk/>
            <pc:sldMk cId="3538746390" sldId="264"/>
            <ac:graphicFrameMk id="4" creationId="{3E5B08F4-9D6C-CCFE-BB73-B3ECAA02CE99}"/>
          </ac:graphicFrameMkLst>
        </pc:graphicFrameChg>
      </pc:sldChg>
      <pc:sldChg chg="modSp add del mod">
        <pc:chgData name="Linda Thoresen" userId="9a35b0fd-6bd0-4bcb-acc2-0266a8a11a72" providerId="ADAL" clId="{2808C109-8FB6-4F0E-B6D1-9A7244954AFB}" dt="2025-05-23T13:20:50.648" v="391" actId="47"/>
        <pc:sldMkLst>
          <pc:docMk/>
          <pc:sldMk cId="1743921430" sldId="265"/>
        </pc:sldMkLst>
        <pc:graphicFrameChg chg="modGraphic">
          <ac:chgData name="Linda Thoresen" userId="9a35b0fd-6bd0-4bcb-acc2-0266a8a11a72" providerId="ADAL" clId="{2808C109-8FB6-4F0E-B6D1-9A7244954AFB}" dt="2025-05-23T12:57:13.934" v="3" actId="2164"/>
          <ac:graphicFrameMkLst>
            <pc:docMk/>
            <pc:sldMk cId="1743921430" sldId="265"/>
            <ac:graphicFrameMk id="4" creationId="{C0335EF5-0CFE-38DB-3F5C-924D5FCE8FCA}"/>
          </ac:graphicFrameMkLst>
        </pc:graphicFrameChg>
      </pc:sldChg>
      <pc:sldChg chg="addSp modSp add mod">
        <pc:chgData name="Linda Thoresen" userId="9a35b0fd-6bd0-4bcb-acc2-0266a8a11a72" providerId="ADAL" clId="{2808C109-8FB6-4F0E-B6D1-9A7244954AFB}" dt="2025-05-23T13:16:58.298" v="275" actId="1076"/>
        <pc:sldMkLst>
          <pc:docMk/>
          <pc:sldMk cId="148459228" sldId="266"/>
        </pc:sldMkLst>
        <pc:spChg chg="add mod">
          <ac:chgData name="Linda Thoresen" userId="9a35b0fd-6bd0-4bcb-acc2-0266a8a11a72" providerId="ADAL" clId="{2808C109-8FB6-4F0E-B6D1-9A7244954AFB}" dt="2025-05-23T13:16:58.298" v="275" actId="1076"/>
          <ac:spMkLst>
            <pc:docMk/>
            <pc:sldMk cId="148459228" sldId="266"/>
            <ac:spMk id="3" creationId="{8B71B67E-5AD2-CFD1-3DFC-9B649D02FDB2}"/>
          </ac:spMkLst>
        </pc:spChg>
        <pc:graphicFrameChg chg="modGraphic">
          <ac:chgData name="Linda Thoresen" userId="9a35b0fd-6bd0-4bcb-acc2-0266a8a11a72" providerId="ADAL" clId="{2808C109-8FB6-4F0E-B6D1-9A7244954AFB}" dt="2025-05-23T13:16:24.638" v="192" actId="20577"/>
          <ac:graphicFrameMkLst>
            <pc:docMk/>
            <pc:sldMk cId="148459228" sldId="266"/>
            <ac:graphicFrameMk id="4" creationId="{B48B82C2-A6D6-ED1D-48C7-87552F705FE1}"/>
          </ac:graphicFrameMkLst>
        </pc:graphicFrameChg>
      </pc:sldChg>
      <pc:sldChg chg="modSp add mod">
        <pc:chgData name="Linda Thoresen" userId="9a35b0fd-6bd0-4bcb-acc2-0266a8a11a72" providerId="ADAL" clId="{2808C109-8FB6-4F0E-B6D1-9A7244954AFB}" dt="2025-05-23T13:18:10.967" v="386" actId="14100"/>
        <pc:sldMkLst>
          <pc:docMk/>
          <pc:sldMk cId="655959420" sldId="267"/>
        </pc:sldMkLst>
        <pc:spChg chg="mod">
          <ac:chgData name="Linda Thoresen" userId="9a35b0fd-6bd0-4bcb-acc2-0266a8a11a72" providerId="ADAL" clId="{2808C109-8FB6-4F0E-B6D1-9A7244954AFB}" dt="2025-05-23T13:18:10.967" v="386" actId="14100"/>
          <ac:spMkLst>
            <pc:docMk/>
            <pc:sldMk cId="655959420" sldId="267"/>
            <ac:spMk id="3" creationId="{2838A9FA-CBB7-BB02-57F5-C861EF438D71}"/>
          </ac:spMkLst>
        </pc:spChg>
      </pc:sldChg>
      <pc:sldChg chg="new del ord">
        <pc:chgData name="Linda Thoresen" userId="9a35b0fd-6bd0-4bcb-acc2-0266a8a11a72" providerId="ADAL" clId="{2808C109-8FB6-4F0E-B6D1-9A7244954AFB}" dt="2025-05-23T13:20:49.627" v="389" actId="47"/>
        <pc:sldMkLst>
          <pc:docMk/>
          <pc:sldMk cId="905396338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7189B-DB9F-4256-8A80-E7398185446D}" type="datetimeFigureOut">
              <a:rPr lang="nb-NO" smtClean="0"/>
              <a:t>23.05.2025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11F04E-4DF6-43CF-AC95-A06E0F2A93A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72439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D39E9-A530-AEA1-408A-3BB1E00E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E74DD2FB-8712-759B-57F3-3EF158C920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74F324E1-D2A0-ED18-E0F7-0AC347128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FA482724-74D2-3A32-6EC8-131A97E6E8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11F04E-4DF6-43CF-AC95-A06E0F2A93AF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46349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2A83AC7-F7DF-14F2-96A9-F050589CE6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733AD4A4-130D-A486-B6DF-B4747AA8DA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1D4F1AB-4E4F-8B4C-6708-ED2A66586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48E7-C561-4C2F-A751-E15042D91D66}" type="datetimeFigureOut">
              <a:rPr lang="nb-NO" smtClean="0"/>
              <a:t>23.05.2025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C53D260-0270-8A4E-6058-1B112AAC8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B3DFBCE-0F2D-AB9B-DF19-4B341A814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73603-0D67-4468-8264-5FBF1A466C4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32037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10A7490-4576-AEB8-3542-0FB3EA11A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95AF277-A079-E59A-7B9B-059105E87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C8BDECF-AD93-B43C-81D2-A4EB137D4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48E7-C561-4C2F-A751-E15042D91D66}" type="datetimeFigureOut">
              <a:rPr lang="nb-NO" smtClean="0"/>
              <a:t>23.05.2025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41BDF2E-4889-4153-F982-EF073322D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C09C4CF-FA25-7DDC-E7B6-95E66129C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73603-0D67-4468-8264-5FBF1A466C4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90431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583D56F-66FF-C117-18D3-06BEF3B21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C03267E3-DB7B-B3DC-FC71-E30C60AB5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A58AB6E7-6D00-B4EF-C175-399EB75C4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48E7-C561-4C2F-A751-E15042D91D66}" type="datetimeFigureOut">
              <a:rPr lang="nb-NO" smtClean="0"/>
              <a:t>23.05.2025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7DBBD5ED-621A-90EB-E57B-25E07158A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EC65466-48A2-F342-7FA8-5867F381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73603-0D67-4468-8264-5FBF1A466C4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78978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25479D1-4640-C3CC-9751-451835507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4897C98-D108-9A72-A64F-1BF0A0A128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A43E5445-1149-8424-8BC1-7959E4D70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F8A881B7-FB81-BAAC-E474-FA3F27CDE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48E7-C561-4C2F-A751-E15042D91D66}" type="datetimeFigureOut">
              <a:rPr lang="nb-NO" smtClean="0"/>
              <a:t>23.05.2025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DE203972-AD08-C56C-20CB-0335D3504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626EAB45-0B72-19AF-3433-5B610D691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73603-0D67-4468-8264-5FBF1A466C4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71653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EA5003A-D36B-8C55-3C9C-8A7E46BC8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1F3D70C9-E3CB-9297-F27B-340FB6042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DE3EF002-07F9-BE04-2A6C-8192E627E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76A6A5DE-4010-A481-B756-5822A47640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B5B5CB54-DB0A-048B-AA78-0D3C6EEC00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DCE0D85D-616E-4DCB-2930-E65C5D69E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48E7-C561-4C2F-A751-E15042D91D66}" type="datetimeFigureOut">
              <a:rPr lang="nb-NO" smtClean="0"/>
              <a:t>23.05.2025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FCB4808F-CC6F-D1FD-62A1-BE0C537D4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02425118-E79C-03EA-98ED-82089A689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73603-0D67-4468-8264-5FBF1A466C4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34543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A0A739D-2E80-7EF2-6C37-48CFB61A6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E3B4B984-76DD-B767-8C57-49EFBB50F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48E7-C561-4C2F-A751-E15042D91D66}" type="datetimeFigureOut">
              <a:rPr lang="nb-NO" smtClean="0"/>
              <a:t>23.05.2025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D454FF21-CA72-15F3-18E9-F004853B9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71D37B9E-6415-5A31-8435-F75B631B8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73603-0D67-4468-8264-5FBF1A466C4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61989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B0DB3DA2-8F47-326F-A2CC-D0D0E5CF3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48E7-C561-4C2F-A751-E15042D91D66}" type="datetimeFigureOut">
              <a:rPr lang="nb-NO" smtClean="0"/>
              <a:t>23.05.2025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D400F57D-23F2-CFD2-604D-B555425DF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2EE9327B-8C0D-BB1E-B9B8-7D853EB7D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73603-0D67-4468-8264-5FBF1A466C4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29074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D3C204A-8838-F8AA-4B0A-25250AFD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D65E211-75BF-0F51-DF0E-FFE664A8F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19D3C48C-6122-FB8F-9440-D63122C46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3D9B87B9-E9CF-7E73-B06C-190585A4E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48E7-C561-4C2F-A751-E15042D91D66}" type="datetimeFigureOut">
              <a:rPr lang="nb-NO" smtClean="0"/>
              <a:t>23.05.2025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01EA1957-246B-DCC7-12F1-8F66DCC5B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AC9CA0A2-66A6-B5C5-5590-48570DE3E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73603-0D67-4468-8264-5FBF1A466C4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7629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A700BAF-3C79-A8CA-21D1-AA4F50F80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6C5949EF-7B21-AAE5-4C53-56551D5FE0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124D6A64-CA3C-13DF-2FF4-97CB2570C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6765DF6F-D4E5-7BB2-F4A7-CCF55F385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48E7-C561-4C2F-A751-E15042D91D66}" type="datetimeFigureOut">
              <a:rPr lang="nb-NO" smtClean="0"/>
              <a:t>23.05.2025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4016F924-1146-551A-C645-84E8F18D9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ED0BEE77-F603-AAAB-F657-90DAE2192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73603-0D67-4468-8264-5FBF1A466C4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29147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F201BC0-AA20-F45E-5F4E-5E8A9452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B6375306-9A60-1502-248D-31204F4B91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52F51A1-974D-28A0-282F-67802E2D4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48E7-C561-4C2F-A751-E15042D91D66}" type="datetimeFigureOut">
              <a:rPr lang="nb-NO" smtClean="0"/>
              <a:t>23.05.2025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E8085BE-5377-E827-5CC1-2029801B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8A6C5FC-D90C-294E-B473-7E46E1541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73603-0D67-4468-8264-5FBF1A466C4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74830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E23DC334-DB15-08B5-39E6-67D27E35A0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0DF02D79-0F3A-1DD3-D740-63C55646DE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D44359ED-325A-EF24-B447-44D4D8678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48E7-C561-4C2F-A751-E15042D91D66}" type="datetimeFigureOut">
              <a:rPr lang="nb-NO" smtClean="0"/>
              <a:t>23.05.2025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2A797BF-6484-BC07-4D85-0664D28BB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DB69ED9-88ED-6538-85F4-4C9C2CE27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73603-0D67-4468-8264-5FBF1A466C4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2538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FF62E218-DCF6-5CF0-B6CF-7C348B351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A16595B4-95FE-FF20-6AE4-E3AD05FB0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6FB0E09-B79E-06B4-C1C7-CBD5E773C0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6C48E7-C561-4C2F-A751-E15042D91D66}" type="datetimeFigureOut">
              <a:rPr lang="nb-NO" smtClean="0"/>
              <a:t>23.05.2025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1D1CE07-1D25-A70F-35EB-98A264F4DA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F7DA4709-B56B-2AB3-F824-4122C1741C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A73603-0D67-4468-8264-5FBF1A466C4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02390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2E71B-514D-81ED-0915-E1A3EB8A8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4D30062-052C-F576-264E-25C94BC3B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8790"/>
            <a:ext cx="10044023" cy="582843"/>
          </a:xfrm>
        </p:spPr>
        <p:txBody>
          <a:bodyPr anchor="ctr">
            <a:normAutofit/>
          </a:bodyPr>
          <a:lstStyle/>
          <a:p>
            <a:r>
              <a:rPr lang="nb-NO" sz="2800" b="1" dirty="0"/>
              <a:t>Tiltaksgrenser - IMG kjønnsmodne</a:t>
            </a:r>
          </a:p>
        </p:txBody>
      </p:sp>
      <p:graphicFrame>
        <p:nvGraphicFramePr>
          <p:cNvPr id="4" name="Plassholder for innhold 3">
            <a:extLst>
              <a:ext uri="{FF2B5EF4-FFF2-40B4-BE49-F238E27FC236}">
                <a16:creationId xmlns:a16="http://schemas.microsoft.com/office/drawing/2014/main" id="{B48B82C2-A6D6-ED1D-48C7-87552F705F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3376885"/>
              </p:ext>
            </p:extLst>
          </p:nvPr>
        </p:nvGraphicFramePr>
        <p:xfrm>
          <a:off x="0" y="761633"/>
          <a:ext cx="12191998" cy="54715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42000">
                  <a:extLst>
                    <a:ext uri="{9D8B030D-6E8A-4147-A177-3AD203B41FA5}">
                      <a16:colId xmlns:a16="http://schemas.microsoft.com/office/drawing/2014/main" val="2039286310"/>
                    </a:ext>
                  </a:extLst>
                </a:gridCol>
                <a:gridCol w="1677987">
                  <a:extLst>
                    <a:ext uri="{9D8B030D-6E8A-4147-A177-3AD203B41FA5}">
                      <a16:colId xmlns:a16="http://schemas.microsoft.com/office/drawing/2014/main" val="771185035"/>
                    </a:ext>
                  </a:extLst>
                </a:gridCol>
                <a:gridCol w="1557337">
                  <a:extLst>
                    <a:ext uri="{9D8B030D-6E8A-4147-A177-3AD203B41FA5}">
                      <a16:colId xmlns:a16="http://schemas.microsoft.com/office/drawing/2014/main" val="1321049986"/>
                    </a:ext>
                  </a:extLst>
                </a:gridCol>
                <a:gridCol w="1557337">
                  <a:extLst>
                    <a:ext uri="{9D8B030D-6E8A-4147-A177-3AD203B41FA5}">
                      <a16:colId xmlns:a16="http://schemas.microsoft.com/office/drawing/2014/main" val="3102499825"/>
                    </a:ext>
                  </a:extLst>
                </a:gridCol>
                <a:gridCol w="1557337">
                  <a:extLst>
                    <a:ext uri="{9D8B030D-6E8A-4147-A177-3AD203B41FA5}">
                      <a16:colId xmlns:a16="http://schemas.microsoft.com/office/drawing/2014/main" val="1976347848"/>
                    </a:ext>
                  </a:extLst>
                </a:gridCol>
              </a:tblGrid>
              <a:tr h="62520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nb-NO" sz="3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 tiltak </a:t>
                      </a:r>
                    </a:p>
                  </a:txBody>
                  <a:tcPr marL="91392" marR="91392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nb-NO" sz="3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&lt;5˚C</a:t>
                      </a:r>
                    </a:p>
                  </a:txBody>
                  <a:tcPr marL="91392" marR="91392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nb-NO" sz="3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5-9 ˚C</a:t>
                      </a:r>
                    </a:p>
                  </a:txBody>
                  <a:tcPr marL="91392" marR="91392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nb-NO" sz="3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9-13˚C</a:t>
                      </a:r>
                    </a:p>
                  </a:txBody>
                  <a:tcPr marL="91392" marR="91392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nb-NO" sz="3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&gt;13˚C</a:t>
                      </a:r>
                    </a:p>
                  </a:txBody>
                  <a:tcPr marL="91392" marR="91392" marT="0" marB="0" anchor="ctr"/>
                </a:tc>
                <a:extLst>
                  <a:ext uri="{0D108BD9-81ED-4DB2-BD59-A6C34878D82A}">
                    <a16:rowId xmlns:a16="http://schemas.microsoft.com/office/drawing/2014/main" val="562488519"/>
                  </a:ext>
                </a:extLst>
              </a:tr>
              <a:tr h="7791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nb-NO" sz="25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Lasere 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nb-NO" sz="1600" b="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Innsett av flere lasere, økt oppetid, utvidet bemanning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buNone/>
                      </a:pPr>
                      <a:endParaRPr lang="nb-NO" sz="500" b="0" i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buNone/>
                      </a:pPr>
                      <a:endParaRPr lang="nb-NO" sz="500" b="0" i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392" marR="91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nb-NO" sz="3000" b="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0,35</a:t>
                      </a:r>
                    </a:p>
                  </a:txBody>
                  <a:tcPr marL="91392" marR="91392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nb-NO" sz="3000" b="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0,15</a:t>
                      </a:r>
                    </a:p>
                  </a:txBody>
                  <a:tcPr marL="91392" marR="91392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nb-NO" sz="3000" b="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0,10</a:t>
                      </a:r>
                    </a:p>
                  </a:txBody>
                  <a:tcPr marL="91392" marR="91392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nb-NO" sz="3000" b="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0,05</a:t>
                      </a:r>
                    </a:p>
                  </a:txBody>
                  <a:tcPr marL="91392" marR="91392" marT="0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927827"/>
                  </a:ext>
                </a:extLst>
              </a:tr>
              <a:tr h="6521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nb-NO" sz="25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Overvåkning/vurdering tiltak </a:t>
                      </a:r>
                      <a:endParaRPr lang="nb-NO" sz="1600" b="0" i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nb-NO" sz="1600" b="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Telle oftere. Følge opp effekt av eventuelle tiltak som gjøres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b-NO" sz="1600" b="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 på behov for avlusning (vurderes opp mot AUT-trend – merder med økninger på &gt;30 % på </a:t>
                      </a:r>
                      <a:r>
                        <a:rPr lang="nb-NO" sz="1600" b="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ukesnivå</a:t>
                      </a:r>
                      <a:r>
                        <a:rPr lang="nb-NO" sz="1600" b="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bør flagges)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nb-NO" sz="500" b="0" i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392" marR="91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nb-NO" sz="3000" b="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0,40</a:t>
                      </a:r>
                    </a:p>
                  </a:txBody>
                  <a:tcPr marL="91392" marR="91392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nb-NO" sz="3000" b="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0,20</a:t>
                      </a:r>
                    </a:p>
                  </a:txBody>
                  <a:tcPr marL="91392" marR="91392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nb-NO" sz="3000" b="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0,15</a:t>
                      </a:r>
                    </a:p>
                  </a:txBody>
                  <a:tcPr marL="91392" marR="91392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nb-NO" sz="3000" b="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0,10</a:t>
                      </a:r>
                    </a:p>
                  </a:txBody>
                  <a:tcPr marL="91392" marR="91392" marT="0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589690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nb-NO" sz="25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Planlegging av tiltak 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nb-NO" sz="1600" b="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Når disse grensene passeres bør det igangsettes reduserende tiltak (avlusning eller slakteuttak)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nb-NO" sz="1600" b="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På nedadgående temperaturer under 10 grader bør terskel for tiltak være høyere</a:t>
                      </a:r>
                    </a:p>
                  </a:txBody>
                  <a:tcPr marL="91392" marR="91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nb-NO" sz="3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0,45</a:t>
                      </a:r>
                    </a:p>
                  </a:txBody>
                  <a:tcPr marL="91392" marR="91392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nb-NO" sz="3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0,25</a:t>
                      </a:r>
                    </a:p>
                  </a:txBody>
                  <a:tcPr marL="91392" marR="91392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nb-NO" sz="3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0,20</a:t>
                      </a:r>
                    </a:p>
                  </a:txBody>
                  <a:tcPr marL="91392" marR="91392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nb-NO" sz="3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0,15</a:t>
                      </a:r>
                    </a:p>
                  </a:txBody>
                  <a:tcPr marL="91392" marR="91392" marT="0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71574"/>
                  </a:ext>
                </a:extLst>
              </a:tr>
            </a:tbl>
          </a:graphicData>
        </a:graphic>
      </p:graphicFrame>
      <p:sp>
        <p:nvSpPr>
          <p:cNvPr id="3" name="TekstSylinder 2">
            <a:extLst>
              <a:ext uri="{FF2B5EF4-FFF2-40B4-BE49-F238E27FC236}">
                <a16:creationId xmlns:a16="http://schemas.microsoft.com/office/drawing/2014/main" id="{8B71B67E-5AD2-CFD1-3DFC-9B649D02FDB2}"/>
              </a:ext>
            </a:extLst>
          </p:cNvPr>
          <p:cNvSpPr txBox="1"/>
          <p:nvPr/>
        </p:nvSpPr>
        <p:spPr>
          <a:xfrm>
            <a:off x="188258" y="6309878"/>
            <a:ext cx="7249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Alle tiltaksgrenser må sees i sammenheng med trenden til AUT-utvikling</a:t>
            </a:r>
          </a:p>
        </p:txBody>
      </p:sp>
    </p:spTree>
    <p:extLst>
      <p:ext uri="{BB962C8B-B14F-4D97-AF65-F5344CB8AC3E}">
        <p14:creationId xmlns:p14="http://schemas.microsoft.com/office/powerpoint/2010/main" val="148459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A4735-D570-38B4-6C47-EAE954F37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8CCDFBB-FD43-D7BE-AC5D-C42CC73B5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AUT – støtteverktøy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838A9FA-CBB7-BB02-57F5-C861EF438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141" y="1465729"/>
            <a:ext cx="10627659" cy="5027145"/>
          </a:xfrm>
        </p:spPr>
        <p:txBody>
          <a:bodyPr>
            <a:normAutofit/>
          </a:bodyPr>
          <a:lstStyle/>
          <a:p>
            <a:r>
              <a:rPr lang="nb-NO" dirty="0"/>
              <a:t>Treukers-trend: Økninger med 0,01 og 0,02 over en periode </a:t>
            </a:r>
          </a:p>
          <a:p>
            <a:r>
              <a:rPr lang="nb-NO" b="1" dirty="0"/>
              <a:t>Tilsvarer gjerne en 30 % økning, slik økning over noen uker utløser ekstra fokus</a:t>
            </a:r>
          </a:p>
          <a:p>
            <a:r>
              <a:rPr lang="nb-NO" b="1" dirty="0"/>
              <a:t>Kraftigere % økninger fordrer raskere tiltak</a:t>
            </a:r>
          </a:p>
          <a:p>
            <a:pPr marL="0" indent="0">
              <a:buNone/>
            </a:pPr>
            <a:endParaRPr lang="nb-NO" b="1" dirty="0"/>
          </a:p>
          <a:p>
            <a:r>
              <a:rPr lang="nb-NO" b="1" dirty="0"/>
              <a:t>På høyere temperaturer bør det igangsettes planlegging når det observeres 30 % økning 2-3 uker på rad </a:t>
            </a:r>
          </a:p>
          <a:p>
            <a:r>
              <a:rPr lang="nb-NO" b="1" dirty="0"/>
              <a:t>På lavere temperaturer (10 grader og nedadgående) bør tiltaksgrenser og AUT-trend vurderes nøye for å se an behov</a:t>
            </a:r>
          </a:p>
          <a:p>
            <a:pPr marL="0" indent="0">
              <a:buNone/>
            </a:pPr>
            <a:endParaRPr lang="nb-NO" dirty="0"/>
          </a:p>
          <a:p>
            <a:pPr lvl="1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655959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81C62-908A-B873-6BE4-3D828A330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CC15B6C-B083-4BA0-CD1E-D60B7228B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8523"/>
            <a:ext cx="10044023" cy="877729"/>
          </a:xfrm>
        </p:spPr>
        <p:txBody>
          <a:bodyPr anchor="ctr">
            <a:normAutofit/>
          </a:bodyPr>
          <a:lstStyle/>
          <a:p>
            <a:r>
              <a:rPr lang="nb-NO" sz="4000" dirty="0">
                <a:solidFill>
                  <a:srgbClr val="FFFFFF"/>
                </a:solidFill>
              </a:rPr>
              <a:t>IMG - Veiledende tiltaksgrenser hunnlus</a:t>
            </a:r>
          </a:p>
        </p:txBody>
      </p:sp>
      <p:sp>
        <p:nvSpPr>
          <p:cNvPr id="5" name="Plassholder for innhold 4">
            <a:extLst>
              <a:ext uri="{FF2B5EF4-FFF2-40B4-BE49-F238E27FC236}">
                <a16:creationId xmlns:a16="http://schemas.microsoft.com/office/drawing/2014/main" id="{821CCABF-1D2E-080F-F0C8-CF1A1FDBF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1259731"/>
            <a:ext cx="10515600" cy="5039469"/>
          </a:xfrm>
        </p:spPr>
        <p:txBody>
          <a:bodyPr>
            <a:normAutofit fontScale="85000" lnSpcReduction="20000"/>
          </a:bodyPr>
          <a:lstStyle/>
          <a:p>
            <a:r>
              <a:rPr lang="nb-NO" dirty="0"/>
              <a:t>Konklusjon: Bør ikke være tiltaksgrenser – </a:t>
            </a:r>
            <a:r>
              <a:rPr lang="nb-NO" b="1" dirty="0"/>
              <a:t>støtteverktøy</a:t>
            </a:r>
          </a:p>
          <a:p>
            <a:pPr lvl="1"/>
            <a:r>
              <a:rPr lang="nb-NO" dirty="0"/>
              <a:t>Veldig påvirket av skottelus</a:t>
            </a:r>
          </a:p>
          <a:p>
            <a:pPr lvl="1"/>
            <a:r>
              <a:rPr lang="nb-NO" dirty="0"/>
              <a:t>Små stadier vanskelig å fange opp (selv på manuelle tellinger)</a:t>
            </a:r>
          </a:p>
          <a:p>
            <a:r>
              <a:rPr lang="nb-NO" dirty="0"/>
              <a:t>Bevegelige lusetall er mer upålitelige</a:t>
            </a:r>
          </a:p>
          <a:p>
            <a:r>
              <a:rPr lang="nb-NO" dirty="0"/>
              <a:t>Vil ha størst verdi på høye temperaturer hvor utvikling går sært fort</a:t>
            </a:r>
          </a:p>
          <a:p>
            <a:r>
              <a:rPr lang="nb-NO" dirty="0"/>
              <a:t>Vi er ofte på tiltaksgrense på </a:t>
            </a:r>
            <a:r>
              <a:rPr lang="nb-NO" dirty="0" err="1"/>
              <a:t>holus</a:t>
            </a:r>
            <a:r>
              <a:rPr lang="nb-NO" dirty="0"/>
              <a:t> før/samtidig som vi passerer et merkbart høyere nivå av bevegelige</a:t>
            </a:r>
          </a:p>
          <a:p>
            <a:r>
              <a:rPr lang="nb-NO" b="1" dirty="0"/>
              <a:t>På vinterstid er vi opp mot 1,3 bev lus uten at dette er problematisk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Mulig:</a:t>
            </a:r>
          </a:p>
          <a:p>
            <a:r>
              <a:rPr lang="nb-NO" dirty="0"/>
              <a:t>&gt;13</a:t>
            </a:r>
            <a:r>
              <a:rPr lang="nb-NO" sz="2800" kern="100" dirty="0">
                <a:effectLst/>
              </a:rPr>
              <a:t>˚C: 0,1-0,15 bev</a:t>
            </a:r>
          </a:p>
          <a:p>
            <a:r>
              <a:rPr lang="nb-NO" kern="100" dirty="0"/>
              <a:t>9</a:t>
            </a:r>
            <a:r>
              <a:rPr lang="nb-NO" sz="2800" kern="100" dirty="0">
                <a:effectLst/>
              </a:rPr>
              <a:t>-13˚C: 0,8-1,0 bev</a:t>
            </a:r>
          </a:p>
          <a:p>
            <a:r>
              <a:rPr lang="nb-NO" kern="100" dirty="0"/>
              <a:t>Ingen grense &lt;5 grader</a:t>
            </a:r>
            <a:endParaRPr lang="nb-NO" sz="2800" kern="100" dirty="0">
              <a:effectLst/>
            </a:endParaRPr>
          </a:p>
          <a:p>
            <a:endParaRPr lang="nb-NO" sz="2800" kern="100" dirty="0">
              <a:effectLst/>
            </a:endParaRPr>
          </a:p>
          <a:p>
            <a:endParaRPr lang="nb-NO" dirty="0"/>
          </a:p>
        </p:txBody>
      </p:sp>
      <p:sp>
        <p:nvSpPr>
          <p:cNvPr id="6" name="Tittel 1">
            <a:extLst>
              <a:ext uri="{FF2B5EF4-FFF2-40B4-BE49-F238E27FC236}">
                <a16:creationId xmlns:a16="http://schemas.microsoft.com/office/drawing/2014/main" id="{E4B4DAC9-F22F-E6B1-BB5B-43E336D836E1}"/>
              </a:ext>
            </a:extLst>
          </p:cNvPr>
          <p:cNvSpPr txBox="1">
            <a:spLocks/>
          </p:cNvSpPr>
          <p:nvPr/>
        </p:nvSpPr>
        <p:spPr>
          <a:xfrm>
            <a:off x="723900" y="382002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b-NO" sz="4000" dirty="0"/>
              <a:t>Bevegelige nivåer som beslutningsverktøy</a:t>
            </a:r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FC6E1D0C-A397-BC80-FAAF-CE1F86576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317203"/>
            <a:ext cx="5945284" cy="135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837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DED506B-A9F0-1EF2-FE71-B931E5723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 dirty="0"/>
              <a:t>Usikkerhetsmomenter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848AFEB-C463-ADE6-E2C4-12E6E4189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793" y="1388853"/>
            <a:ext cx="11559396" cy="540876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nb-NO" dirty="0"/>
              <a:t>Biologi:</a:t>
            </a:r>
          </a:p>
          <a:p>
            <a:r>
              <a:rPr lang="nb-NO" dirty="0"/>
              <a:t>Skottelus – vanskelig å skille, særlig små bev</a:t>
            </a:r>
          </a:p>
          <a:p>
            <a:r>
              <a:rPr lang="nb-NO" dirty="0"/>
              <a:t>Ulikt utseende på lus gjennom året (lysere/mindre på varmere temp)</a:t>
            </a:r>
          </a:p>
          <a:p>
            <a:r>
              <a:rPr lang="nb-NO" dirty="0"/>
              <a:t>Størrelse på fisken (liten fisk ofte lenger unna, hvor er lusa på fisken)</a:t>
            </a:r>
          </a:p>
          <a:p>
            <a:r>
              <a:rPr lang="nb-NO" dirty="0"/>
              <a:t>Smittepress eksternt</a:t>
            </a:r>
          </a:p>
          <a:p>
            <a:endParaRPr lang="nb-NO" dirty="0"/>
          </a:p>
          <a:p>
            <a:pPr marL="0" indent="0">
              <a:buNone/>
            </a:pPr>
            <a:r>
              <a:rPr lang="nb-NO" dirty="0"/>
              <a:t>Lasere:</a:t>
            </a:r>
          </a:p>
          <a:p>
            <a:r>
              <a:rPr lang="nb-NO" dirty="0"/>
              <a:t>Oppetid</a:t>
            </a:r>
          </a:p>
          <a:p>
            <a:r>
              <a:rPr lang="nb-NO" dirty="0"/>
              <a:t>Dybde</a:t>
            </a:r>
          </a:p>
          <a:p>
            <a:r>
              <a:rPr lang="nb-NO" dirty="0"/>
              <a:t>Bildekvalitet – vask, siktedyp</a:t>
            </a:r>
          </a:p>
          <a:p>
            <a:r>
              <a:rPr lang="nb-NO" dirty="0"/>
              <a:t>Utvalg (</a:t>
            </a:r>
            <a:r>
              <a:rPr lang="nb-NO" dirty="0" err="1"/>
              <a:t>dock</a:t>
            </a:r>
            <a:r>
              <a:rPr lang="nb-NO" dirty="0"/>
              <a:t>, antall lasere gir flere dybder)</a:t>
            </a:r>
          </a:p>
          <a:p>
            <a:r>
              <a:rPr lang="nb-NO" dirty="0"/>
              <a:t>Tellenøyaktighet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Drift:</a:t>
            </a:r>
          </a:p>
          <a:p>
            <a:r>
              <a:rPr lang="nb-NO" dirty="0"/>
              <a:t>Antall lasere – </a:t>
            </a:r>
            <a:r>
              <a:rPr lang="nb-NO" dirty="0" err="1"/>
              <a:t>mtp</a:t>
            </a:r>
            <a:r>
              <a:rPr lang="nb-NO" dirty="0"/>
              <a:t> utvikling og tiltak</a:t>
            </a:r>
          </a:p>
          <a:p>
            <a:r>
              <a:rPr lang="nb-NO" dirty="0"/>
              <a:t>Rengjøring – både telling og effekt av laserstråler</a:t>
            </a:r>
          </a:p>
          <a:p>
            <a:r>
              <a:rPr lang="nb-NO" dirty="0"/>
              <a:t>Slakteuttak, splitting, </a:t>
            </a:r>
            <a:r>
              <a:rPr lang="nb-NO" dirty="0" err="1"/>
              <a:t>nyutsett</a:t>
            </a:r>
            <a:endParaRPr lang="nb-NO" dirty="0"/>
          </a:p>
          <a:p>
            <a:r>
              <a:rPr lang="nb-NO" dirty="0"/>
              <a:t>Avlusning – «</a:t>
            </a:r>
            <a:r>
              <a:rPr lang="nb-NO" dirty="0" err="1"/>
              <a:t>seneffekter</a:t>
            </a:r>
            <a:r>
              <a:rPr lang="nb-NO" dirty="0"/>
              <a:t>» </a:t>
            </a:r>
          </a:p>
          <a:p>
            <a:endParaRPr lang="nb-NO" dirty="0"/>
          </a:p>
          <a:p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967850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DCD422AE8124B4F96AA38A2A243BA12" ma:contentTypeVersion="19" ma:contentTypeDescription="Opprett et nytt dokument." ma:contentTypeScope="" ma:versionID="a7f24eadfd4f9efe362efe939131925e">
  <xsd:schema xmlns:xsd="http://www.w3.org/2001/XMLSchema" xmlns:xs="http://www.w3.org/2001/XMLSchema" xmlns:p="http://schemas.microsoft.com/office/2006/metadata/properties" xmlns:ns2="f7178eb5-0fc8-471c-8583-88a02c67bed1" xmlns:ns3="af916a5b-4d40-4c88-a381-68d02b243e0c" xmlns:ns4="1162cbef-a04b-44f2-9c83-7ac796e8318a" targetNamespace="http://schemas.microsoft.com/office/2006/metadata/properties" ma:root="true" ma:fieldsID="0afb909e505d26a945b8ed3da4d3f30d" ns2:_="" ns3:_="" ns4:_="">
    <xsd:import namespace="f7178eb5-0fc8-471c-8583-88a02c67bed1"/>
    <xsd:import namespace="af916a5b-4d40-4c88-a381-68d02b243e0c"/>
    <xsd:import namespace="1162cbef-a04b-44f2-9c83-7ac796e831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ew3z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178eb5-0fc8-471c-8583-88a02c67be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ew3z" ma:index="20" nillable="true" ma:displayName="Person eller gruppe" ma:list="UserInfo" ma:internalName="ew3z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ildemerkelapper" ma:readOnly="false" ma:fieldId="{5cf76f15-5ced-4ddc-b409-7134ff3c332f}" ma:taxonomyMulti="true" ma:sspId="4b7e22f1-acec-4e3a-8bee-de6fc88cb54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916a5b-4d40-4c88-a381-68d02b243e0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62cbef-a04b-44f2-9c83-7ac796e8318a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A6B26FA7-54AC-481D-83CF-C263DFB45B4D}" ma:internalName="TaxCatchAll" ma:showField="CatchAllData" ma:web="{48766bcd-6151-45df-bf1c-0a36d8254f2b}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178eb5-0fc8-471c-8583-88a02c67bed1">
      <Terms xmlns="http://schemas.microsoft.com/office/infopath/2007/PartnerControls"/>
    </lcf76f155ced4ddcb4097134ff3c332f>
    <TaxCatchAll xmlns="1162cbef-a04b-44f2-9c83-7ac796e8318a" xsi:nil="true"/>
    <ew3z xmlns="f7178eb5-0fc8-471c-8583-88a02c67bed1">
      <UserInfo>
        <DisplayName/>
        <AccountId xsi:nil="true"/>
        <AccountType/>
      </UserInfo>
    </ew3z>
  </documentManagement>
</p:properties>
</file>

<file path=customXml/itemProps1.xml><?xml version="1.0" encoding="utf-8"?>
<ds:datastoreItem xmlns:ds="http://schemas.openxmlformats.org/officeDocument/2006/customXml" ds:itemID="{487EB068-E707-4BD0-8D70-15CAA5001D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178eb5-0fc8-471c-8583-88a02c67bed1"/>
    <ds:schemaRef ds:uri="af916a5b-4d40-4c88-a381-68d02b243e0c"/>
    <ds:schemaRef ds:uri="1162cbef-a04b-44f2-9c83-7ac796e831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64B7041-1809-45B3-80D0-88C019BAEE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3C5188-D970-4E06-BA18-5BECB7D674D2}">
  <ds:schemaRefs>
    <ds:schemaRef ds:uri="http://schemas.microsoft.com/office/2006/metadata/properties"/>
    <ds:schemaRef ds:uri="http://schemas.microsoft.com/office/infopath/2007/PartnerControls"/>
    <ds:schemaRef ds:uri="f7178eb5-0fc8-471c-8583-88a02c67bed1"/>
    <ds:schemaRef ds:uri="1162cbef-a04b-44f2-9c83-7ac796e8318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386</Words>
  <Application>Microsoft Office PowerPoint</Application>
  <PresentationFormat>Widescreen</PresentationFormat>
  <Paragraphs>69</Paragraphs>
  <Slides>4</Slides>
  <Notes>1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Office-tema</vt:lpstr>
      <vt:lpstr>Tiltaksgrenser - IMG kjønnsmodne</vt:lpstr>
      <vt:lpstr>AUT – støtteverktøy</vt:lpstr>
      <vt:lpstr>IMG - Veiledende tiltaksgrenser hunnlus</vt:lpstr>
      <vt:lpstr>Usikkerhetsmomenter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Linda Thoresen</dc:creator>
  <cp:lastModifiedBy>Linda Thoresen</cp:lastModifiedBy>
  <cp:revision>1</cp:revision>
  <dcterms:created xsi:type="dcterms:W3CDTF">2025-05-23T06:43:42Z</dcterms:created>
  <dcterms:modified xsi:type="dcterms:W3CDTF">2025-05-23T13:20:52Z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0x0101003DCD422AE8124B4F96AA38A2A243BA12</vt:lpwstr>
  </property>
  <property fmtid="{D5CDD505-2E9C-101B-9397-08002B2CF9AE}" pid="3" name="MediaServiceImageTags">
    <vt:lpwstr/>
  </property>
</Properties>
</file>